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0:00-0:20 | Team ASTRA, Project 19. One sentence up front: we are building the assistive arm that reports, in newtons, how hard it is pushing on a patient.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0:20-0:50 | The narrative spine. Problem in one clause, answer in one clause. Everything after this is evidence for one of the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0:50-1:20 | The 4 min/session figure (T-WREX) is the supervision budget we design to. Say 'supervised use' out loud — it pre-empts the obvious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1:20-1:55 | Land 32 vs 322. That gap is the whole commercial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1:55-2:35 | The answer to 'why is it a problem' is not 'nobody tried'. It is a physics problem plus a standards vacuum. Point at the gap on the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2:35-3:05 | Name HuggieBot before the room does — Prof. Obayashi will know it. Conceding the form factor is what makes our narrower claim credible.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3:05-3:30 | If asked 'why is soft safer' — it isn't, on impact. Haddadin (IROS 2010) shows joint elasticity does not reduce peak impact force. Compliance buys measurability and an unpowered bound.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3:30-4:00 | Lead with the equation for the inflatable branch — it is ruled out on a number, not on taste.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4:00-4:30 | Stating what we are NOT doing is what makes one academic year credible. Sit-to-stand is the first thing a reviewer will ask us to add.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4:30-4:50 | Row 3 is the one to point at: it turns the value proposition into a pass/fail test. Why n = 32-40: between-subjects at d = 0.5 needs 128 (Bartlett 2022); within-subjects needs about a quarter of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4:50-5:00 | Land it and stop. If Q&amp;A goes to 'why not fully soft', the answer is one equation: M = PπD³/8.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105156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280">
                <a:solidFill>
                  <a:srgbClr val="EA9A80"/>
                </a:solidFill>
                <a:latin typeface="Trebuchet MS"/>
              </a:rPr>
              <a:t>NYU TANDON  ·  MECHANICAL ENGINEERING SENIOR DESIGN  ·  PROJECT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38100"/>
          </a:xfrm>
          <a:prstGeom prst="rect">
            <a:avLst/>
          </a:prstGeom>
          <a:solidFill>
            <a:srgbClr val="EA9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700" b="1" i="0">
                <a:solidFill>
                  <a:srgbClr val="FAF7F1"/>
                </a:solidFill>
                <a:latin typeface="Trebuchet MS"/>
              </a:rPr>
              <a:t>A Soft Robotic Assistant for Physical Interaction with Elderly and Rehabilitation Patients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7200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EA9A80"/>
                </a:solidFill>
                <a:latin typeface="Trebuchet MS"/>
              </a:rPr>
              <a:t>Force you can measure. Bounded when the power is off.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064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AF7F1"/>
                </a:solidFill>
                <a:latin typeface="Calibri"/>
              </a:rPr>
              <a:t>Team ASTRA</a:t>
            </a:r>
            <a:r>
              <a:rPr sz="1250" b="0" i="0">
                <a:solidFill>
                  <a:srgbClr val="DCE6E4"/>
                </a:solidFill>
                <a:latin typeface="Calibri"/>
              </a:rPr>
              <a:t>   ·   Advisor: Prof. Nana Obayashi   ·   22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64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280">
                <a:solidFill>
                  <a:srgbClr val="F2C9B8"/>
                </a:solidFill>
                <a:latin typeface="Trebuchet MS"/>
              </a:rPr>
              <a:t>THE PITCH IN ONE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874519"/>
            <a:ext cx="1005840" cy="38100"/>
          </a:xfrm>
          <a:prstGeom prst="rect">
            <a:avLst/>
          </a:prstGeom>
          <a:solidFill>
            <a:srgbClr val="F2C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240280"/>
            <a:ext cx="9692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300" b="1" i="0">
                <a:solidFill>
                  <a:srgbClr val="FAF7F1"/>
                </a:solidFill>
                <a:latin typeface="Trebuchet MS"/>
              </a:rPr>
              <a:t>Rehab is rationed by therapist time — and the machines that could extend it are too rigid to leave near a frail patient.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43400"/>
            <a:ext cx="9326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 i="0">
                <a:solidFill>
                  <a:srgbClr val="F7E2D9"/>
                </a:solidFill>
                <a:latin typeface="Calibri"/>
              </a:rPr>
              <a:t>Our answer is a soft arm a patient can lean on, which measures and reports the force it applies at every moment of contact.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ustomer.jpg"/>
          <p:cNvPicPr>
            <a:picLocks noChangeAspect="1"/>
          </p:cNvPicPr>
          <p:nvPr/>
        </p:nvPicPr>
        <p:blipFill>
          <a:blip r:embed="rId2"/>
          <a:srcRect l="7500" r="7500"/>
          <a:stretch>
            <a:fillRect/>
          </a:stretch>
        </p:blipFill>
        <p:spPr>
          <a:xfrm>
            <a:off x="7528255" y="0"/>
            <a:ext cx="466344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914400"/>
            <a:ext cx="611093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i="0">
                <a:solidFill>
                  <a:srgbClr val="25403F"/>
                </a:solidFill>
                <a:latin typeface="Trebuchet MS"/>
              </a:rPr>
              <a:t>Who our customer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020824"/>
            <a:ext cx="384048" cy="31750"/>
          </a:xfrm>
          <a:prstGeom prst="rect">
            <a:avLst/>
          </a:prstGeom>
          <a:solidFill>
            <a:srgbClr val="A64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44168" y="1929384"/>
            <a:ext cx="5544007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A6432C"/>
                </a:solidFill>
                <a:latin typeface="Trebuchet MS"/>
              </a:rPr>
              <a:t>BUYER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2185416"/>
            <a:ext cx="554400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25403F"/>
                </a:solidFill>
                <a:latin typeface="Trebuchet MS"/>
              </a:rPr>
              <a:t>Clinics and care facilities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2587752"/>
            <a:ext cx="5544007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3D5655"/>
                </a:solidFill>
                <a:latin typeface="Calibri"/>
              </a:rPr>
              <a:t>Physical therapy clinics and elder-care facilities. Short on therapist hours, not on patients.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346704"/>
            <a:ext cx="384048" cy="31750"/>
          </a:xfrm>
          <a:prstGeom prst="rect">
            <a:avLst/>
          </a:prstGeom>
          <a:solidFill>
            <a:srgbClr val="A64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3255264"/>
            <a:ext cx="5544007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A6432C"/>
                </a:solidFill>
                <a:latin typeface="Trebuchet MS"/>
              </a:rPr>
              <a:t>END 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3511296"/>
            <a:ext cx="554400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25403F"/>
                </a:solidFill>
                <a:latin typeface="Trebuchet MS"/>
              </a:rPr>
              <a:t>Patients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3913632"/>
            <a:ext cx="5544007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3D5655"/>
                </a:solidFill>
                <a:latin typeface="Calibri"/>
              </a:rPr>
              <a:t>Elderly and rehabilitation patients who need steadying, guided reach and postural support — hundreds of times, not once.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672584"/>
            <a:ext cx="384048" cy="31750"/>
          </a:xfrm>
          <a:prstGeom prst="rect">
            <a:avLst/>
          </a:prstGeom>
          <a:solidFill>
            <a:srgbClr val="A64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4168" y="4581144"/>
            <a:ext cx="5544007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A6432C"/>
                </a:solidFill>
                <a:latin typeface="Trebuchet MS"/>
              </a:rPr>
              <a:t>END 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4837176"/>
            <a:ext cx="554400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25403F"/>
                </a:solidFill>
                <a:latin typeface="Trebuchet MS"/>
              </a:rPr>
              <a:t>Therapists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5239512"/>
            <a:ext cx="5544007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3D5655"/>
                </a:solidFill>
                <a:latin typeface="Calibri"/>
              </a:rPr>
              <a:t>One therapist covers several patients. A passive gravity-balancing orthosis produced sustained gains on about 4 minutes of therapist attention per hour.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852160"/>
            <a:ext cx="58366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5403F"/>
                </a:solidFill>
                <a:latin typeface="Trebuchet MS"/>
              </a:rPr>
              <a:t>Patients need repetitions. Clinics need them delivered without a therapist inside every one.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E7372"/>
                </a:solidFill>
                <a:latin typeface="Calibri"/>
              </a:rPr>
              <a:t>ASTRA  ·  Project 19  ·  Soft Robotic Assistant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42855" y="62910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E7372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5852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i="0">
                <a:solidFill>
                  <a:srgbClr val="25403F"/>
                </a:solidFill>
                <a:latin typeface="Trebuchet MS"/>
              </a:rPr>
              <a:t>What their problem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56692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700" b="1" i="0">
                <a:solidFill>
                  <a:srgbClr val="25403F"/>
                </a:solidFill>
                <a:latin typeface="Trebuchet MS"/>
              </a:rPr>
              <a:t>Recovery runs on repetitions, and every repetition costs a therapist's hands.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350" b="0" i="0">
                <a:solidFill>
                  <a:srgbClr val="3D5655"/>
                </a:solidFill>
                <a:latin typeface="Calibri"/>
              </a:rPr>
              <a:t>Conventional therapy delivers a mean of 32 upper-limb repetitions per session (95% CI 20–44). An instrumented protocol has reached 322 in the same hour.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350" b="0" i="0">
                <a:solidFill>
                  <a:srgbClr val="3D5655"/>
                </a:solidFill>
                <a:latin typeface="Calibri"/>
              </a:rPr>
              <a:t>The ceiling on therapy is staff time, not patient willingness — and the machines meant to lift that ceiling are either unsafe to leave against a frail body, or cannot carry load at all.</a:t>
            </a:r>
          </a:p>
        </p:txBody>
      </p:sp>
      <p:pic>
        <p:nvPicPr>
          <p:cNvPr id="5" name="Picture 4" descr="dose.png"/>
          <p:cNvPicPr>
            <a:picLocks noChangeAspect="1"/>
          </p:cNvPicPr>
          <p:nvPr/>
        </p:nvPicPr>
        <p:blipFill>
          <a:blip r:embed="rId2"/>
          <a:srcRect l="42" r="42"/>
          <a:stretch>
            <a:fillRect/>
          </a:stretch>
        </p:blipFill>
        <p:spPr>
          <a:xfrm>
            <a:off x="6430975" y="1188720"/>
            <a:ext cx="498348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57784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5403F"/>
                </a:solidFill>
                <a:latin typeface="Trebuchet MS"/>
              </a:rPr>
              <a:t>The patient needs contact that is both load-bearing and safe. Nothing on the market is both.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E7372"/>
                </a:solidFill>
                <a:latin typeface="Calibri"/>
              </a:rPr>
              <a:t>ASTRA  ·  Project 19  ·  Soft Robotic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42855" y="62910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E7372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i="0">
                <a:solidFill>
                  <a:srgbClr val="25403F"/>
                </a:solidFill>
                <a:latin typeface="Trebuchet MS"/>
              </a:rPr>
              <a:t>Why nobody has already fixed it</a:t>
            </a:r>
          </a:p>
        </p:txBody>
      </p:sp>
      <p:pic>
        <p:nvPicPr>
          <p:cNvPr id="4" name="Picture 3" descr="ban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35608" y="1481328"/>
            <a:ext cx="9326880" cy="3108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" y="4736592"/>
            <a:ext cx="5190591" cy="1554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010912"/>
            <a:ext cx="464195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700" b="1" i="0">
                <a:solidFill>
                  <a:srgbClr val="25403F"/>
                </a:solidFill>
                <a:latin typeface="Trebuchet MS"/>
              </a:rPr>
              <a:t>A standards vacuum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394960"/>
            <a:ext cx="4641951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 i="0">
                <a:solidFill>
                  <a:srgbClr val="3D5655"/>
                </a:solidFill>
                <a:latin typeface="Calibri"/>
              </a:rPr>
              <a:t>ISO 13482 publishes no contact limits, and ISO/TS 15066 states it does not apply to non-industrial robots — and the pain data behind both comes from healthy young volunteers.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3863" y="4736592"/>
            <a:ext cx="5190591" cy="1554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8183" y="5010912"/>
            <a:ext cx="464195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700" b="1" i="0">
                <a:solidFill>
                  <a:srgbClr val="25403F"/>
                </a:solidFill>
                <a:latin typeface="Trebuchet MS"/>
              </a:rPr>
              <a:t>The wrong population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8183" y="5394960"/>
            <a:ext cx="4641951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 i="0">
                <a:solidFill>
                  <a:srgbClr val="3D5655"/>
                </a:solidFill>
                <a:latin typeface="Calibri"/>
              </a:rPr>
              <a:t>Pressure-pain threshold drops significantly over age 62, and reduced protective sensation travels with reduced tissue tolerance. Pain onset is not a valid proxy for injury onset here.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E7372"/>
                </a:solidFill>
                <a:latin typeface="Calibri"/>
              </a:rPr>
              <a:t>ASTRA  ·  Project 19  ·  Soft Robotic 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42855" y="62910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E7372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i="0">
                <a:solidFill>
                  <a:srgbClr val="25403F"/>
                </a:solidFill>
                <a:latin typeface="Trebuchet MS"/>
              </a:rPr>
              <a:t>What exists today, and what it never reports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965960"/>
          <a:ext cx="10637213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2837"/>
                <a:gridCol w="2127443"/>
                <a:gridCol w="2552931"/>
                <a:gridCol w="2340187"/>
                <a:gridCol w="2233815"/>
              </a:tblGrid>
              <a:tr h="4526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AF7F1"/>
                          </a:solidFill>
                          <a:latin typeface="Trebuchet MS"/>
                        </a:rPr>
                        <a:t>Compare</a:t>
                      </a:r>
                    </a:p>
                  </a:txBody>
                  <a:tcPr marL="128016" marR="128016" marT="82296" marB="82296" anchor="ctr">
                    <a:solidFill>
                      <a:srgbClr val="2540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AF7F1"/>
                          </a:solidFill>
                          <a:latin typeface="Trebuchet MS"/>
                        </a:rPr>
                        <a:t>Rigid patient-handling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AF7F1"/>
                          </a:solidFill>
                          <a:latin typeface="Trebuchet MS"/>
                        </a:rPr>
                        <a:t>(RIBA, RoNA)</a:t>
                      </a:r>
                    </a:p>
                  </a:txBody>
                  <a:tcPr marL="128016" marR="128016" marT="82296" marB="82296" anchor="ctr">
                    <a:solidFill>
                      <a:srgbClr val="2540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AF7F1"/>
                          </a:solidFill>
                          <a:latin typeface="Trebuchet MS"/>
                        </a:rPr>
                        <a:t>Soft freestanding humanoids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AF7F1"/>
                          </a:solidFill>
                          <a:latin typeface="Trebuchet MS"/>
                        </a:rPr>
                        <a:t>(HuggieBot, King Louie)</a:t>
                      </a:r>
                    </a:p>
                  </a:txBody>
                  <a:tcPr marL="128016" marR="128016" marT="82296" marB="82296" anchor="ctr">
                    <a:solidFill>
                      <a:srgbClr val="2540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AF7F1"/>
                          </a:solidFill>
                          <a:latin typeface="Trebuchet MS"/>
                        </a:rPr>
                        <a:t>Worn exosuits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AF7F1"/>
                          </a:solidFill>
                          <a:latin typeface="Trebuchet MS"/>
                        </a:rPr>
                        <a:t>(Harvard soft shoulder)</a:t>
                      </a:r>
                    </a:p>
                  </a:txBody>
                  <a:tcPr marL="128016" marR="128016" marT="82296" marB="82296" anchor="ctr">
                    <a:solidFill>
                      <a:srgbClr val="2540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A9A80"/>
                          </a:solidFill>
                          <a:latin typeface="Trebuchet MS"/>
                        </a:rPr>
                        <a:t>ASTRA</a:t>
                      </a:r>
                    </a:p>
                  </a:txBody>
                  <a:tcPr marL="128016" marR="128016" marT="82296" marB="82296" anchor="ctr">
                    <a:solidFill>
                      <a:srgbClr val="25403F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25403F"/>
                          </a:solidFill>
                          <a:latin typeface="Calibri"/>
                        </a:rPr>
                        <a:t>Assistive force</a:t>
                      </a:r>
                    </a:p>
                  </a:txBody>
                  <a:tcPr marL="128016" marR="128016" marT="91440" marB="91440" anchor="t"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0">
                          <a:solidFill>
                            <a:srgbClr val="3D5655"/>
                          </a:solidFill>
                          <a:latin typeface="Calibri"/>
                        </a:rPr>
                        <a:t>Lifts 60–80 kg</a:t>
                      </a:r>
                    </a:p>
                  </a:txBody>
                  <a:tcPr marL="128016" marR="128016" marT="91440" marB="91440" anchor="t"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0">
                          <a:solidFill>
                            <a:srgbClr val="3D5655"/>
                          </a:solidFill>
                          <a:latin typeface="Calibri"/>
                        </a:rPr>
                        <a:t>None published</a:t>
                      </a:r>
                    </a:p>
                  </a:txBody>
                  <a:tcPr marL="128016" marR="128016" marT="91440" marB="91440" anchor="t"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0">
                          <a:solidFill>
                            <a:srgbClr val="3D5655"/>
                          </a:solidFill>
                          <a:latin typeface="Calibri"/>
                        </a:rPr>
                        <a:t>6.6 N·m per limb, measured on patients</a:t>
                      </a:r>
                    </a:p>
                  </a:txBody>
                  <a:tcPr marL="128016" marR="128016" marT="91440" marB="91440" anchor="t"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0">
                          <a:solidFill>
                            <a:srgbClr val="A6432C"/>
                          </a:solidFill>
                          <a:latin typeface="Calibri"/>
                        </a:rPr>
                        <a:t>28 N, measured and reported</a:t>
                      </a:r>
                    </a:p>
                  </a:txBody>
                  <a:tcPr marL="128016" marR="128016" marT="91440" marB="91440" anchor="t">
                    <a:solidFill>
                      <a:srgbClr val="EFE7DC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25403F"/>
                          </a:solidFill>
                          <a:latin typeface="Calibri"/>
                        </a:rPr>
                        <a:t>Load path</a:t>
                      </a:r>
                    </a:p>
                  </a:txBody>
                  <a:tcPr marL="128016" marR="128016" marT="91440" marB="9144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0">
                          <a:solidFill>
                            <a:srgbClr val="3D5655"/>
                          </a:solidFill>
                          <a:latin typeface="Calibri"/>
                        </a:rPr>
                        <a:t>Rigid to floor, on a 140–230 kg robot</a:t>
                      </a:r>
                    </a:p>
                  </a:txBody>
                  <a:tcPr marL="128016" marR="128016" marT="91440" marB="9144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0">
                          <a:solidFill>
                            <a:srgbClr val="3D5655"/>
                          </a:solidFill>
                          <a:latin typeface="Calibri"/>
                        </a:rPr>
                        <a:t>To floor, unquantified</a:t>
                      </a:r>
                    </a:p>
                  </a:txBody>
                  <a:tcPr marL="128016" marR="128016" marT="91440" marB="9144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0">
                          <a:solidFill>
                            <a:srgbClr val="3D5655"/>
                          </a:solidFill>
                          <a:latin typeface="Calibri"/>
                        </a:rPr>
                        <a:t>Onto the patient's own skeleton</a:t>
                      </a:r>
                    </a:p>
                  </a:txBody>
                  <a:tcPr marL="128016" marR="128016" marT="91440" marB="9144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0">
                          <a:solidFill>
                            <a:srgbClr val="A6432C"/>
                          </a:solidFill>
                          <a:latin typeface="Calibri"/>
                        </a:rPr>
                        <a:t>Rigid to floor, compliance in the actuation</a:t>
                      </a:r>
                    </a:p>
                  </a:txBody>
                  <a:tcPr marL="128016" marR="128016" marT="91440" marB="91440" anchor="t"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25403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128016" marR="128016" marT="91440" marB="91440" anchor="t"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0">
                          <a:solidFill>
                            <a:srgbClr val="3D5655"/>
                          </a:solidFill>
                          <a:latin typeface="Calibri"/>
                        </a:rPr>
                        <a:t>Discontinued — RIKEN-SRK closed 2015, none deployed in care</a:t>
                      </a:r>
                    </a:p>
                  </a:txBody>
                  <a:tcPr marL="128016" marR="128016" marT="91440" marB="91440" anchor="t"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0">
                          <a:solidFill>
                            <a:srgbClr val="3D5655"/>
                          </a:solidFill>
                          <a:latin typeface="Calibri"/>
                        </a:rPr>
                        <a:t>48 human subjects in uncontrolled full-body contact; force never reported</a:t>
                      </a:r>
                    </a:p>
                  </a:txBody>
                  <a:tcPr marL="128016" marR="128016" marT="91440" marB="91440" anchor="t"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0">
                          <a:solidFill>
                            <a:srgbClr val="3D5655"/>
                          </a:solidFill>
                          <a:latin typeface="Calibri"/>
                        </a:rPr>
                        <a:t>Delivering measured assistance to real patients</a:t>
                      </a:r>
                    </a:p>
                  </a:txBody>
                  <a:tcPr marL="128016" marR="128016" marT="91440" marB="91440" anchor="t"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0">
                          <a:solidFill>
                            <a:srgbClr val="A6432C"/>
                          </a:solidFill>
                          <a:latin typeface="Calibri"/>
                        </a:rPr>
                        <a:t>Bench instrument, supervised use</a:t>
                      </a:r>
                    </a:p>
                  </a:txBody>
                  <a:tcPr marL="128016" marR="128016" marT="91440" marB="91440" anchor="t">
                    <a:solidFill>
                      <a:srgbClr val="EFE7D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4279392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5403F"/>
                </a:solidFill>
                <a:latin typeface="Trebuchet MS"/>
              </a:rPr>
              <a:t>The soft freestanding torso is not empty ground. What nobody has built is the instrument.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E7372"/>
                </a:solidFill>
                <a:latin typeface="Calibri"/>
              </a:rPr>
              <a:t>ASTRA  ·  Project 19  ·  Soft Robotic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42855" y="62910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E7372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gid.jpg"/>
          <p:cNvPicPr>
            <a:picLocks noChangeAspect="1"/>
          </p:cNvPicPr>
          <p:nvPr/>
        </p:nvPicPr>
        <p:blipFill>
          <a:blip r:embed="rId2"/>
          <a:srcRect l="16000" r="16000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0" y="91440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280">
                <a:solidFill>
                  <a:srgbClr val="A6432C"/>
                </a:solidFill>
                <a:latin typeface="Trebuchet MS"/>
              </a:rPr>
              <a:t>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1417320"/>
            <a:ext cx="611093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600" b="1" i="0">
                <a:solidFill>
                  <a:srgbClr val="25403F"/>
                </a:solidFill>
                <a:latin typeface="Trebuchet MS"/>
              </a:rPr>
              <a:t>A compliant support arm that delivers a characterised, instrumented contact-force envelope — measured, not asserted.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3611880"/>
            <a:ext cx="384048" cy="31750"/>
          </a:xfrm>
          <a:prstGeom prst="rect">
            <a:avLst/>
          </a:prstGeom>
          <a:solidFill>
            <a:srgbClr val="A64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70448" y="3511296"/>
            <a:ext cx="5544007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25403F"/>
                </a:solidFill>
                <a:latin typeface="Trebuchet MS"/>
              </a:rPr>
              <a:t>Unlike rigid assistive robots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70448" y="3895344"/>
            <a:ext cx="554400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3D5655"/>
                </a:solidFill>
                <a:latin typeface="Calibri"/>
              </a:rPr>
              <a:t>A series spring makes interaction force readable from its own deflection, and bounds that force when the actuator is unpowered.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4983480"/>
            <a:ext cx="384048" cy="31750"/>
          </a:xfrm>
          <a:prstGeom prst="rect">
            <a:avLst/>
          </a:prstGeom>
          <a:solidFill>
            <a:srgbClr val="A64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70448" y="4882896"/>
            <a:ext cx="5544007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25403F"/>
                </a:solidFill>
                <a:latin typeface="Trebuchet MS"/>
              </a:rPr>
              <a:t>Unlike the soft humanoids already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0448" y="5266944"/>
            <a:ext cx="554400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3D5655"/>
                </a:solidFill>
                <a:latin typeface="Calibri"/>
              </a:rPr>
              <a:t>The deliverable is the measurement, not the demonstration. We publish the envelope, the method, and the conditions it holds under.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E7372"/>
                </a:solidFill>
                <a:latin typeface="Calibri"/>
              </a:rPr>
              <a:t>ASTRA  ·  Project 19  ·  Soft Robotic Assistant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42855" y="62910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E7372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i="0">
                <a:solidFill>
                  <a:srgbClr val="25403F"/>
                </a:solidFill>
                <a:latin typeface="Trebuchet MS"/>
              </a:rPr>
              <a:t>What we will actually build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965960"/>
            <a:ext cx="3375050" cy="296265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240280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A6432C"/>
                </a:solidFill>
                <a:latin typeface="Trebuchet MS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51176"/>
            <a:ext cx="282641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700" b="1" i="0">
                <a:solidFill>
                  <a:srgbClr val="25403F"/>
                </a:solidFill>
                <a:latin typeface="Trebuchet MS"/>
              </a:rPr>
              <a:t>Rigid spine, soft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209544"/>
            <a:ext cx="2826410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3D5655"/>
                </a:solidFill>
                <a:latin typeface="Calibri"/>
              </a:rPr>
              <a:t>Rigid grounded load path, compliance placed in the actuation, designed soft covering at the contact patch.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3D5655"/>
                </a:solidFill>
                <a:latin typeface="Calibri"/>
              </a:rPr>
              <a:t>Series-elastic over variable-stiffness; impedance control, not admittance.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8322" y="1965960"/>
            <a:ext cx="3375050" cy="296265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2642" y="2240280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A6432C"/>
                </a:solidFill>
                <a:latin typeface="Trebuchet MS"/>
              </a:rPr>
              <a:t>RULED OUT ON THE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2642" y="2551176"/>
            <a:ext cx="282641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700" b="1" i="0">
                <a:solidFill>
                  <a:srgbClr val="25403F"/>
                </a:solidFill>
                <a:latin typeface="Trebuchet MS"/>
              </a:rPr>
              <a:t>Not a fully inflatable arm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2642" y="3209544"/>
            <a:ext cx="2826410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3D5655"/>
                </a:solidFill>
                <a:latin typeface="Calibri"/>
              </a:rPr>
              <a:t>M = PπD³/8 gives about 26 N·m for a Ø150 mm arm at 20 kPa.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3D5655"/>
                </a:solidFill>
                <a:latin typeface="Calibri"/>
              </a:rPr>
              <a:t>A 200 N lean at 0.5 m applies roughly 100 N·m. The inflatable branch fails by a factor of four.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9404" y="1965960"/>
            <a:ext cx="3375050" cy="296265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3724" y="2240280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A6432C"/>
                </a:solidFill>
                <a:latin typeface="Trebuchet MS"/>
              </a:rPr>
              <a:t>BEHAVIOUR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3724" y="2551176"/>
            <a:ext cx="282641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700" b="1" i="0">
                <a:solidFill>
                  <a:srgbClr val="25403F"/>
                </a:solidFill>
                <a:latin typeface="Trebuchet MS"/>
              </a:rPr>
              <a:t>Stiffens, holds, then releases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3209544"/>
            <a:ext cx="2826410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3D5655"/>
                </a:solidFill>
                <a:latin typeface="Calibri"/>
              </a:rPr>
              <a:t>Compliant on approach, stiffer under load, with an explicit braked state for a sustained lean.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3D5655"/>
                </a:solidFill>
                <a:latin typeface="Calibri"/>
              </a:rPr>
              <a:t>Removing power reduces the force it can apply rather than trapping the user.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4068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5403F"/>
                </a:solidFill>
                <a:latin typeface="Trebuchet MS"/>
              </a:rPr>
              <a:t>Material down-select — silicone, TPU, pneumatic bladder, tendon drive — runs against 28 N and ≈10 N·m, not the tens of N·m the brief implies.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E7372"/>
                </a:solidFill>
                <a:latin typeface="Calibri"/>
              </a:rPr>
              <a:t>ASTRA  ·  Project 19  ·  Soft Robotic Assistant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42855" y="62910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E7372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i="0">
                <a:solidFill>
                  <a:srgbClr val="25403F"/>
                </a:solidFill>
                <a:latin typeface="Trebuchet MS"/>
              </a:rPr>
              <a:t>Scope: what we will have by the end of the year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375050" cy="250545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94560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A6432C"/>
                </a:solidFill>
                <a:latin typeface="Trebuchet MS"/>
              </a:rPr>
              <a:t>1 ·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05456"/>
            <a:ext cx="28264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700" b="1" i="0">
                <a:solidFill>
                  <a:srgbClr val="25403F"/>
                </a:solidFill>
                <a:latin typeface="Trebuchet MS"/>
              </a:rPr>
              <a:t>Down-select the actuator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889504"/>
            <a:ext cx="2826410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3D5655"/>
                </a:solidFill>
                <a:latin typeface="Calibri"/>
              </a:rPr>
              <a:t>Against 28 N of assistive force and ≈10 N·m of shoulder gravity compensation.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3D5655"/>
                </a:solidFill>
                <a:latin typeface="Calibri"/>
              </a:rPr>
              <a:t>At that target, actuator families that look disqualified come back into range.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8322" y="1920240"/>
            <a:ext cx="3375050" cy="250545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2642" y="2194560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A6432C"/>
                </a:solidFill>
                <a:latin typeface="Trebuchet MS"/>
              </a:rPr>
              <a:t>2 ·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2642" y="2505456"/>
            <a:ext cx="28264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700" b="1" i="0">
                <a:solidFill>
                  <a:srgbClr val="25403F"/>
                </a:solidFill>
                <a:latin typeface="Trebuchet MS"/>
              </a:rPr>
              <a:t>One instrumented arm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2642" y="2889504"/>
            <a:ext cx="2826410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3D5655"/>
                </a:solidFill>
                <a:latin typeface="Calibri"/>
              </a:rPr>
              <a:t>A series-elastic support arm on a base that reacts ≥330 N applied at hand height without tipping.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9404" y="1920240"/>
            <a:ext cx="3375050" cy="250545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3724" y="2194560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A6432C"/>
                </a:solidFill>
                <a:latin typeface="Trebuchet MS"/>
              </a:rPr>
              <a:t>3 ·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3724" y="2505456"/>
            <a:ext cx="28264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700" b="1" i="0">
                <a:solidFill>
                  <a:srgbClr val="25403F"/>
                </a:solidFill>
                <a:latin typeface="Trebuchet MS"/>
              </a:rPr>
              <a:t>Measure the envelope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2889504"/>
            <a:ext cx="2826410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3D5655"/>
                </a:solidFill>
                <a:latin typeface="Calibri"/>
              </a:rPr>
              <a:t>Force output, deflection-based force estimate, contact pressure, unpowered residual force — plus a human-subject approachability study.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791456"/>
            <a:ext cx="10637215" cy="777240"/>
          </a:xfrm>
          <a:prstGeom prst="roundRect">
            <a:avLst>
              <a:gd name="adj" fmla="val 18000"/>
            </a:avLst>
          </a:prstGeom>
          <a:solidFill>
            <a:srgbClr val="254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956048"/>
            <a:ext cx="99971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FAF7F1"/>
                </a:solidFill>
                <a:latin typeface="Calibri"/>
              </a:rPr>
              <a:t>Out of scope, deliberately: sit-to-stand lift (&gt;121 N·m at the hip, which a commercial lower-limb exoskeleton already fails), unsupervised operation, and contact testing with frail participants. This is a bench instrument, not a clinical product.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E7372"/>
                </a:solidFill>
                <a:latin typeface="Calibri"/>
              </a:rPr>
              <a:t>ASTRA  ·  Project 19  ·  Soft Robotic Assistant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42855" y="62910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E7372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i="0">
                <a:solidFill>
                  <a:srgbClr val="25403F"/>
                </a:solidFill>
                <a:latin typeface="Trebuchet MS"/>
              </a:rPr>
              <a:t>How we will know it worked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920240"/>
          <a:ext cx="10637213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5582"/>
                <a:gridCol w="5531351"/>
                <a:gridCol w="351028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AF7F1"/>
                          </a:solidFill>
                          <a:latin typeface="Trebuchet MS"/>
                        </a:rPr>
                        <a:t>Measure</a:t>
                      </a:r>
                    </a:p>
                  </a:txBody>
                  <a:tcPr marL="128016" marR="128016" marT="82296" marB="82296" anchor="ctr">
                    <a:solidFill>
                      <a:srgbClr val="2540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AF7F1"/>
                          </a:solidFill>
                          <a:latin typeface="Trebuchet MS"/>
                        </a:rPr>
                        <a:t>How</a:t>
                      </a:r>
                    </a:p>
                  </a:txBody>
                  <a:tcPr marL="128016" marR="128016" marT="82296" marB="82296" anchor="ctr">
                    <a:solidFill>
                      <a:srgbClr val="2540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EA9A80"/>
                          </a:solidFill>
                          <a:latin typeface="Trebuchet MS"/>
                        </a:rPr>
                        <a:t>Target</a:t>
                      </a:r>
                    </a:p>
                  </a:txBody>
                  <a:tcPr marL="128016" marR="128016" marT="82296" marB="82296" anchor="ctr">
                    <a:solidFill>
                      <a:srgbClr val="2540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25403F"/>
                          </a:solidFill>
                          <a:latin typeface="Calibri"/>
                        </a:rPr>
                        <a:t>Assistive force</a:t>
                      </a:r>
                    </a:p>
                  </a:txBody>
                  <a:tcPr marL="128016" marR="128016" marT="91440" marB="91440" anchor="t"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3D5655"/>
                          </a:solidFill>
                          <a:latin typeface="Calibri"/>
                        </a:rPr>
                        <a:t>Load cell at the contact point, compared against force estimated from spring deflection</a:t>
                      </a:r>
                    </a:p>
                  </a:txBody>
                  <a:tcPr marL="128016" marR="128016" marT="91440" marB="91440" anchor="t"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A6432C"/>
                          </a:solidFill>
                          <a:latin typeface="Calibri"/>
                        </a:rPr>
                        <a:t>28 N sustained, ±6 N modulation band</a:t>
                      </a:r>
                    </a:p>
                  </a:txBody>
                  <a:tcPr marL="128016" marR="128016" marT="91440" marB="91440" anchor="t">
                    <a:solidFill>
                      <a:srgbClr val="EFE7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25403F"/>
                          </a:solidFill>
                          <a:latin typeface="Calibri"/>
                        </a:rPr>
                        <a:t>Contact safety</a:t>
                      </a:r>
                    </a:p>
                  </a:txBody>
                  <a:tcPr marL="128016" marR="128016" marT="91440" marB="9144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3D5655"/>
                          </a:solidFill>
                          <a:latin typeface="Calibri"/>
                        </a:rPr>
                        <a:t>Quasi-static clamping test and pendulum impact rig, sampled ≥10 kHz with a 100 Hz filter</a:t>
                      </a:r>
                    </a:p>
                  </a:txBody>
                  <a:tcPr marL="128016" marR="128016" marT="91440" marB="9144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A6432C"/>
                          </a:solidFill>
                          <a:latin typeface="Calibri"/>
                        </a:rPr>
                        <a:t>Below 50 N/cm² at the sternum (Behrens, n = 112 — not ISO's 120), margin no tighter than 30%</a:t>
                      </a:r>
                    </a:p>
                  </a:txBody>
                  <a:tcPr marL="128016" marR="128016" marT="91440" marB="91440" anchor="t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25403F"/>
                          </a:solidFill>
                          <a:latin typeface="Calibri"/>
                        </a:rPr>
                        <a:t>Unpowered bound</a:t>
                      </a:r>
                    </a:p>
                  </a:txBody>
                  <a:tcPr marL="128016" marR="128016" marT="91440" marB="91440" anchor="t"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3D5655"/>
                          </a:solidFill>
                          <a:latin typeface="Calibri"/>
                        </a:rPr>
                        <a:t>Cut power under a held lean; record residual force and whether the arm releases</a:t>
                      </a:r>
                    </a:p>
                  </a:txBody>
                  <a:tcPr marL="128016" marR="128016" marT="91440" marB="91440" anchor="t"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A6432C"/>
                          </a:solidFill>
                          <a:latin typeface="Calibri"/>
                        </a:rPr>
                        <a:t>Bounded, non-clamping, releases</a:t>
                      </a:r>
                    </a:p>
                  </a:txBody>
                  <a:tcPr marL="128016" marR="128016" marT="91440" marB="91440" anchor="t">
                    <a:solidFill>
                      <a:srgbClr val="EFE7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25403F"/>
                          </a:solidFill>
                          <a:latin typeface="Calibri"/>
                        </a:rPr>
                        <a:t>Approachability</a:t>
                      </a:r>
                    </a:p>
                  </a:txBody>
                  <a:tcPr marL="128016" marR="128016" marT="91440" marB="9144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3D5655"/>
                          </a:solidFill>
                          <a:latin typeface="Calibri"/>
                        </a:rPr>
                        <a:t>Within-subjects, soft covering on vs off, same arm and motion. Perceived Danger as primary measure, RoSAS for approachability, plus stop distance in cm</a:t>
                      </a:r>
                    </a:p>
                  </a:txBody>
                  <a:tcPr marL="128016" marR="128016" marT="91440" marB="9144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A6432C"/>
                          </a:solidFill>
                          <a:latin typeface="Calibri"/>
                        </a:rPr>
                        <a:t>n = 32–40 healthy adults, preregistered</a:t>
                      </a:r>
                    </a:p>
                  </a:txBody>
                  <a:tcPr marL="128016" marR="128016" marT="91440" marB="9144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46634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5403F"/>
                </a:solidFill>
                <a:latin typeface="Trebuchet MS"/>
              </a:rPr>
              <a:t>Healthy adult volunteers at the Robotics Center, supervised. Contact testing with frail participants is full-board IRB and outside this calendar — we start the paperwork with our senior design professor either 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E7372"/>
                </a:solidFill>
                <a:latin typeface="Calibri"/>
              </a:rPr>
              <a:t>ASTRA  ·  Project 19  ·  Soft Robotic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42855" y="62910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E7372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137160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280">
                <a:solidFill>
                  <a:srgbClr val="EA9A80"/>
                </a:solidFill>
                <a:latin typeface="Trebuchet MS"/>
              </a:rPr>
              <a:t>MAIN 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1005840" cy="38100"/>
          </a:xfrm>
          <a:prstGeom prst="rect">
            <a:avLst/>
          </a:prstGeom>
          <a:solidFill>
            <a:srgbClr val="EA9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 i="0">
                <a:solidFill>
                  <a:srgbClr val="FAF7F1"/>
                </a:solidFill>
                <a:latin typeface="Trebuchet MS"/>
              </a:rPr>
              <a:t>Compliance is not what makes it safe. Measurement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6217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DCE6E4"/>
                </a:solidFill>
                <a:latin typeface="Calibri"/>
              </a:rPr>
              <a:t>We will produce the first instrumented contact-force envelope for a soft assistive arm: 28 N, read from spring deflection, bounded when the power is off.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623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EA9A80"/>
                </a:solidFill>
                <a:latin typeface="Trebuchet MS"/>
              </a:rPr>
              <a:t>Thank you. 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910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E9190"/>
                </a:solidFill>
                <a:latin typeface="Calibri"/>
              </a:rPr>
              <a:t>Photography: U.S. Navy (public domain) · agilemktg1 (PDM) · A. Chernogorodov (CC BY 4.0) · US Army CCDC (CC BY 2.0) · M. M. Ockerbloom (CC BY-SA 4.0). Charts drawn from docs/prior-art.md.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